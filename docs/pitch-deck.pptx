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737360"/>
            <a:ext cx="10789920" cy="1280160"/>
          </a:xfrm>
          <a:prstGeom prst="rect">
            <a:avLst/>
          </a:prstGeom>
          <a:noFill/>
        </p:spPr>
        <p:txBody>
          <a:bodyPr wrap="square">
            <a:spAutoFit/>
          </a:bodyPr>
          <a:lstStyle/>
          <a:p>
            <a:pPr algn="ctr">
              <a:defRPr sz="6600" b="1">
                <a:solidFill>
                  <a:srgbClr val="FFFFFF"/>
                </a:solidFill>
                <a:latin typeface="Calibri"/>
              </a:defRPr>
            </a:pPr>
            <a:r>
              <a:t>Cognivern</a:t>
            </a:r>
          </a:p>
        </p:txBody>
      </p:sp>
      <p:sp>
        <p:nvSpPr>
          <p:cNvPr id="4" name="TextBox 3"/>
          <p:cNvSpPr txBox="1"/>
          <p:nvPr/>
        </p:nvSpPr>
        <p:spPr>
          <a:xfrm>
            <a:off x="685800" y="2926080"/>
            <a:ext cx="10789920" cy="822960"/>
          </a:xfrm>
          <a:prstGeom prst="rect">
            <a:avLst/>
          </a:prstGeom>
          <a:noFill/>
        </p:spPr>
        <p:txBody>
          <a:bodyPr wrap="square">
            <a:spAutoFit/>
          </a:bodyPr>
          <a:lstStyle/>
          <a:p>
            <a:pPr algn="ctr">
              <a:defRPr sz="2600" b="0">
                <a:solidFill>
                  <a:srgbClr val="CADCFC"/>
                </a:solidFill>
                <a:latin typeface="Calibri"/>
              </a:defRPr>
            </a:pPr>
            <a:r>
              <a:t>Private sealed-bid RFP / OTC vendor selection on Canton Network</a:t>
            </a:r>
          </a:p>
        </p:txBody>
      </p:sp>
      <p:sp>
        <p:nvSpPr>
          <p:cNvPr id="5" name="TextBox 4"/>
          <p:cNvSpPr txBox="1"/>
          <p:nvPr/>
        </p:nvSpPr>
        <p:spPr>
          <a:xfrm>
            <a:off x="685800" y="3886200"/>
            <a:ext cx="10789920" cy="640080"/>
          </a:xfrm>
          <a:prstGeom prst="rect">
            <a:avLst/>
          </a:prstGeom>
          <a:noFill/>
        </p:spPr>
        <p:txBody>
          <a:bodyPr wrap="square">
            <a:spAutoFit/>
          </a:bodyPr>
          <a:lstStyle/>
          <a:p>
            <a:pPr algn="ctr">
              <a:defRPr sz="1800" b="0">
                <a:solidFill>
                  <a:srgbClr val="FFFFFF"/>
                </a:solidFill>
                <a:latin typeface="Calibri"/>
              </a:defRPr>
            </a:pPr>
            <a:r>
              <a:t>Track 1 · Private DeFi &amp; Capital Markets  |  Team thisyearnofear</a:t>
            </a:r>
          </a:p>
        </p:txBody>
      </p:sp>
      <p:sp>
        <p:nvSpPr>
          <p:cNvPr id="6" name="TextBox 5"/>
          <p:cNvSpPr txBox="1"/>
          <p:nvPr/>
        </p:nvSpPr>
        <p:spPr>
          <a:xfrm>
            <a:off x="685800" y="5029200"/>
            <a:ext cx="10789920" cy="548640"/>
          </a:xfrm>
          <a:prstGeom prst="rect">
            <a:avLst/>
          </a:prstGeom>
          <a:noFill/>
        </p:spPr>
        <p:txBody>
          <a:bodyPr wrap="square">
            <a:spAutoFit/>
          </a:bodyPr>
          <a:lstStyle/>
          <a:p>
            <a:pPr algn="ctr">
              <a:defRPr sz="1600" b="0">
                <a:solidFill>
                  <a:srgbClr val="02C39A"/>
                </a:solidFill>
                <a:latin typeface="Calibri"/>
              </a:defRPr>
            </a:pPr>
            <a:r>
              <a:t>Live demo: cognivern.vercel.app/sealed-bid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defRPr sz="3600" b="1">
                <a:solidFill>
                  <a:srgbClr val="FFFFFF"/>
                </a:solidFill>
                <a:latin typeface="Calibri"/>
              </a:defRPr>
            </a:pPr>
            <a:r>
              <a:t>The pain: information leakage kills institutional RFPs and OTC</a:t>
            </a:r>
          </a:p>
        </p:txBody>
      </p:sp>
      <p:sp>
        <p:nvSpPr>
          <p:cNvPr id="3" name="Rounded Rectangle 2"/>
          <p:cNvSpPr/>
          <p:nvPr/>
        </p:nvSpPr>
        <p:spPr>
          <a:xfrm>
            <a:off x="548640" y="1554480"/>
            <a:ext cx="3566160" cy="23774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2000" b="1">
                <a:solidFill>
                  <a:srgbClr val="FFFFFF"/>
                </a:solidFill>
                <a:latin typeface="Calibri"/>
              </a:defRPr>
            </a:pPr>
            <a:r>
              <a:t>Email &amp; portals leak</a:t>
            </a:r>
          </a:p>
          <a:p>
            <a:pPr algn="l">
              <a:defRPr sz="1400" b="0">
                <a:solidFill>
                  <a:srgbClr val="FFFFFF"/>
                </a:solidFill>
                <a:latin typeface="Calibri"/>
              </a:defRPr>
            </a:pPr>
            <a:r>
              <a:t>A respondent who sees a competitor’s price bands the whole auction.</a:t>
            </a:r>
          </a:p>
        </p:txBody>
      </p:sp>
      <p:sp>
        <p:nvSpPr>
          <p:cNvPr id="4" name="Rounded Rectangle 3"/>
          <p:cNvSpPr/>
          <p:nvPr/>
        </p:nvSpPr>
        <p:spPr>
          <a:xfrm>
            <a:off x="4434840" y="1554480"/>
            <a:ext cx="3566160" cy="23774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2000" b="1">
                <a:solidFill>
                  <a:srgbClr val="FFFFFF"/>
                </a:solidFill>
                <a:latin typeface="Calibri"/>
              </a:defRPr>
            </a:pPr>
            <a:r>
              <a:t>SaaS counterparty risk</a:t>
            </a:r>
          </a:p>
          <a:p>
            <a:pPr algn="l">
              <a:defRPr sz="1400" b="0">
                <a:solidFill>
                  <a:srgbClr val="FFFFFF"/>
                </a:solidFill>
                <a:latin typeface="Calibri"/>
              </a:defRPr>
            </a:pPr>
            <a:r>
              <a:t>Unblinding is centralized in one provider — a new trust failure inside an outsourced workflow.</a:t>
            </a:r>
          </a:p>
        </p:txBody>
      </p:sp>
      <p:sp>
        <p:nvSpPr>
          <p:cNvPr id="5" name="Rounded Rectangle 4"/>
          <p:cNvSpPr/>
          <p:nvPr/>
        </p:nvSpPr>
        <p:spPr>
          <a:xfrm>
            <a:off x="8321040" y="1554480"/>
            <a:ext cx="3566160" cy="23774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2000" b="1">
                <a:solidFill>
                  <a:srgbClr val="FFFFFF"/>
                </a:solidFill>
                <a:latin typeface="Calibri"/>
              </a:defRPr>
            </a:pPr>
            <a:r>
              <a:t>OTC desks freeze up</a:t>
            </a:r>
          </a:p>
          <a:p>
            <a:pPr algn="l">
              <a:defRPr sz="1400" b="0">
                <a:solidFill>
                  <a:srgbClr val="FFFFFF"/>
                </a:solidFill>
                <a:latin typeface="Calibri"/>
              </a:defRPr>
            </a:pPr>
            <a:r>
              <a:t>Market makers won’t quote tight spreads if their print levels leak.</a:t>
            </a:r>
          </a:p>
        </p:txBody>
      </p:sp>
      <p:sp>
        <p:nvSpPr>
          <p:cNvPr id="6" name="TextBox 5"/>
          <p:cNvSpPr txBox="1"/>
          <p:nvPr/>
        </p:nvSpPr>
        <p:spPr>
          <a:xfrm>
            <a:off x="548640" y="4251960"/>
            <a:ext cx="10972800" cy="548640"/>
          </a:xfrm>
          <a:prstGeom prst="rect">
            <a:avLst/>
          </a:prstGeom>
          <a:noFill/>
        </p:spPr>
        <p:txBody>
          <a:bodyPr wrap="square">
            <a:spAutoFit/>
          </a:bodyPr>
          <a:lstStyle/>
          <a:p>
            <a:pPr algn="ctr">
              <a:defRPr sz="1800" b="0">
                <a:solidFill>
                  <a:srgbClr val="CADCFC"/>
                </a:solidFill>
                <a:latin typeface="Calibri"/>
              </a:defRPr>
            </a:pPr>
            <a:r>
              <a:t>What institutions need: a sealed-bid primitive where bids exist, but only the counterparty can read them — and revealing the winner does not reveal every loser.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a:spAutoFit/>
          </a:bodyPr>
          <a:lstStyle/>
          <a:p>
            <a:pPr algn="l">
              <a:defRPr sz="3600" b="1">
                <a:solidFill>
                  <a:srgbClr val="FFFFFF"/>
                </a:solidFill>
                <a:latin typeface="Calibri"/>
              </a:defRPr>
            </a:pPr>
            <a:r>
              <a:t>Canton makes privacy structural, not cryptographic</a:t>
            </a:r>
          </a:p>
        </p:txBody>
      </p:sp>
      <p:sp>
        <p:nvSpPr>
          <p:cNvPr id="3" name="Rounded Rectangle 2"/>
          <p:cNvSpPr/>
          <p:nvPr/>
        </p:nvSpPr>
        <p:spPr>
          <a:xfrm>
            <a:off x="548640" y="1645920"/>
            <a:ext cx="2468880" cy="14630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800" b="1">
                <a:solidFill>
                  <a:srgbClr val="FFFFFF"/>
                </a:solidFill>
                <a:latin typeface="Calibri"/>
              </a:defRPr>
            </a:pPr>
            <a:r>
              <a:t>SealedBidAuction</a:t>
            </a:r>
          </a:p>
          <a:p>
            <a:pPr algn="ctr">
              <a:defRPr sz="1300" b="0">
                <a:solidFill>
                  <a:srgbClr val="FFFFFF"/>
                </a:solidFill>
                <a:latin typeface="Calibri"/>
              </a:defRPr>
            </a:pPr>
            <a:r>
              <a:t>Auctioneer + eligible bidders</a:t>
            </a:r>
          </a:p>
        </p:txBody>
      </p:sp>
      <p:sp>
        <p:nvSpPr>
          <p:cNvPr id="4" name="Right Arrow 3"/>
          <p:cNvSpPr/>
          <p:nvPr/>
        </p:nvSpPr>
        <p:spPr>
          <a:xfrm>
            <a:off x="3090672" y="2148840"/>
            <a:ext cx="457200" cy="457200"/>
          </a:xfrm>
          <a:prstGeom prst="rightArrow">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21024" y="1645920"/>
            <a:ext cx="2468880" cy="14630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800" b="1">
                <a:solidFill>
                  <a:srgbClr val="FFFFFF"/>
                </a:solidFill>
                <a:latin typeface="Calibri"/>
              </a:defRPr>
            </a:pPr>
            <a:r>
              <a:t>SubmitBid</a:t>
            </a:r>
          </a:p>
          <a:p>
            <a:pPr algn="ctr">
              <a:defRPr sz="1300" b="0">
                <a:solidFill>
                  <a:srgbClr val="FFFFFF"/>
                </a:solidFill>
                <a:latin typeface="Calibri"/>
              </a:defRPr>
            </a:pPr>
            <a:r>
              <a:t>Each bidder creates a Bid contract</a:t>
            </a:r>
          </a:p>
        </p:txBody>
      </p:sp>
      <p:sp>
        <p:nvSpPr>
          <p:cNvPr id="6" name="Right Arrow 5"/>
          <p:cNvSpPr/>
          <p:nvPr/>
        </p:nvSpPr>
        <p:spPr>
          <a:xfrm>
            <a:off x="6163056" y="2148840"/>
            <a:ext cx="457200" cy="457200"/>
          </a:xfrm>
          <a:prstGeom prst="rightArrow">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93408" y="1645920"/>
            <a:ext cx="2468880" cy="14630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800" b="1">
                <a:solidFill>
                  <a:srgbClr val="FFFFFF"/>
                </a:solidFill>
                <a:latin typeface="Calibri"/>
              </a:defRPr>
            </a:pPr>
            <a:r>
              <a:t>CloseAndReveal</a:t>
            </a:r>
          </a:p>
          <a:p>
            <a:pPr algn="ctr">
              <a:defRPr sz="1300" b="0">
                <a:solidFill>
                  <a:srgbClr val="FFFFFF"/>
                </a:solidFill>
                <a:latin typeface="Calibri"/>
              </a:defRPr>
            </a:pPr>
            <a:r>
              <a:t>One consuming choice</a:t>
            </a:r>
          </a:p>
        </p:txBody>
      </p:sp>
      <p:sp>
        <p:nvSpPr>
          <p:cNvPr id="8" name="Right Arrow 7"/>
          <p:cNvSpPr/>
          <p:nvPr/>
        </p:nvSpPr>
        <p:spPr>
          <a:xfrm>
            <a:off x="9235440" y="2148840"/>
            <a:ext cx="457200" cy="457200"/>
          </a:xfrm>
          <a:prstGeom prst="rightArrow">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765792" y="1645920"/>
            <a:ext cx="2468880" cy="14630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800" b="1">
                <a:solidFill>
                  <a:srgbClr val="FFFFFF"/>
                </a:solidFill>
                <a:latin typeface="Calibri"/>
              </a:defRPr>
            </a:pPr>
            <a:r>
              <a:t>AuctionResult</a:t>
            </a:r>
          </a:p>
          <a:p>
            <a:pPr algn="ctr">
              <a:defRPr sz="1300" b="0">
                <a:solidFill>
                  <a:srgbClr val="FFFFFF"/>
                </a:solidFill>
                <a:latin typeface="Calibri"/>
              </a:defRPr>
            </a:pPr>
            <a:r>
              <a:t>Winner + winning amount public</a:t>
            </a:r>
          </a:p>
        </p:txBody>
      </p:sp>
      <p:sp>
        <p:nvSpPr>
          <p:cNvPr id="10" name="TextBox 9"/>
          <p:cNvSpPr txBox="1"/>
          <p:nvPr/>
        </p:nvSpPr>
        <p:spPr>
          <a:xfrm>
            <a:off x="548640" y="3474720"/>
            <a:ext cx="10972800" cy="1097280"/>
          </a:xfrm>
          <a:prstGeom prst="rect">
            <a:avLst/>
          </a:prstGeom>
          <a:noFill/>
        </p:spPr>
        <p:txBody>
          <a:bodyPr wrap="square">
            <a:spAutoFit/>
          </a:bodyPr>
          <a:lstStyle/>
          <a:p>
            <a:pPr algn="ctr">
              <a:defRPr sz="1800" b="0">
                <a:solidFill>
                  <a:srgbClr val="CADCFC"/>
                </a:solidFill>
                <a:latin typeface="Calibri"/>
              </a:defRPr>
            </a:pPr>
            <a:r>
              <a:t>The Bid template gives signatory rights to the bidder and observer rights only to the auctioneer. No encryption key ceremony. No threshold of losers. The reveal is one atomic ledger transaction that consumes every losing Bid in flight.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11480"/>
            <a:ext cx="10972800" cy="731520"/>
          </a:xfrm>
          <a:prstGeom prst="rect">
            <a:avLst/>
          </a:prstGeom>
          <a:noFill/>
        </p:spPr>
        <p:txBody>
          <a:bodyPr wrap="square">
            <a:spAutoFit/>
          </a:bodyPr>
          <a:lstStyle/>
          <a:p>
            <a:pPr algn="l">
              <a:defRPr sz="3400" b="1">
                <a:solidFill>
                  <a:srgbClr val="FFFFFF"/>
                </a:solidFill>
                <a:latin typeface="Calibri"/>
              </a:defRPr>
            </a:pPr>
            <a:r>
              <a:t>Why Canton beats a public chain or FHE-only path</a:t>
            </a:r>
          </a:p>
        </p:txBody>
      </p:sp>
      <p:sp>
        <p:nvSpPr>
          <p:cNvPr id="3" name="Rounded Rectangle 2"/>
          <p:cNvSpPr/>
          <p:nvPr/>
        </p:nvSpPr>
        <p:spPr>
          <a:xfrm>
            <a:off x="548640" y="1280160"/>
            <a:ext cx="3383280" cy="5943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600" b="1">
                <a:solidFill>
                  <a:srgbClr val="FFFFFF"/>
                </a:solidFill>
                <a:latin typeface="Calibri"/>
              </a:defRPr>
            </a:pPr>
            <a:r>
              <a:t>Public chain / SaaS</a:t>
            </a:r>
          </a:p>
        </p:txBody>
      </p:sp>
      <p:sp>
        <p:nvSpPr>
          <p:cNvPr id="4" name="Rounded Rectangle 3"/>
          <p:cNvSpPr/>
          <p:nvPr/>
        </p:nvSpPr>
        <p:spPr>
          <a:xfrm>
            <a:off x="4114800" y="1280160"/>
            <a:ext cx="3383280" cy="5943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600" b="1">
                <a:solidFill>
                  <a:srgbClr val="FFFFFF"/>
                </a:solidFill>
                <a:latin typeface="Calibri"/>
              </a:defRPr>
            </a:pPr>
            <a:r>
              <a:t>FHE only (Fhenix)</a:t>
            </a:r>
          </a:p>
        </p:txBody>
      </p:sp>
      <p:sp>
        <p:nvSpPr>
          <p:cNvPr id="5" name="Rounded Rectangle 4"/>
          <p:cNvSpPr/>
          <p:nvPr/>
        </p:nvSpPr>
        <p:spPr>
          <a:xfrm>
            <a:off x="7680960" y="1280160"/>
            <a:ext cx="3383280" cy="594360"/>
          </a:xfrm>
          <a:prstGeom prst="roundRect">
            <a:avLst/>
          </a:prstGeom>
          <a:solidFill>
            <a:srgbClr val="F96167"/>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600" b="1">
                <a:solidFill>
                  <a:srgbClr val="FFFFFF"/>
                </a:solidFill>
                <a:latin typeface="Calibri"/>
              </a:defRPr>
            </a:pPr>
            <a:r>
              <a:t>Canton Network</a:t>
            </a:r>
          </a:p>
        </p:txBody>
      </p:sp>
      <p:sp>
        <p:nvSpPr>
          <p:cNvPr id="6" name="Rounded Rectangle 5"/>
          <p:cNvSpPr/>
          <p:nvPr/>
        </p:nvSpPr>
        <p:spPr>
          <a:xfrm>
            <a:off x="548640" y="1965960"/>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Bid amounts visible to all</a:t>
            </a:r>
          </a:p>
        </p:txBody>
      </p:sp>
      <p:sp>
        <p:nvSpPr>
          <p:cNvPr id="7" name="Rounded Rectangle 6"/>
          <p:cNvSpPr/>
          <p:nvPr/>
        </p:nvSpPr>
        <p:spPr>
          <a:xfrm>
            <a:off x="4114800" y="1965960"/>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Amounts stay sealed</a:t>
            </a:r>
          </a:p>
        </p:txBody>
      </p:sp>
      <p:sp>
        <p:nvSpPr>
          <p:cNvPr id="8" name="Rounded Rectangle 7"/>
          <p:cNvSpPr/>
          <p:nvPr/>
        </p:nvSpPr>
        <p:spPr>
          <a:xfrm>
            <a:off x="7680960" y="1965960"/>
            <a:ext cx="3383280" cy="594360"/>
          </a:xfrm>
          <a:prstGeom prst="roundRect">
            <a:avLst/>
          </a:prstGeom>
          <a:solidFill>
            <a:srgbClr val="0B0F2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Amounts stay sealed</a:t>
            </a:r>
          </a:p>
        </p:txBody>
      </p:sp>
      <p:sp>
        <p:nvSpPr>
          <p:cNvPr id="9" name="Rounded Rectangle 8"/>
          <p:cNvSpPr/>
          <p:nvPr/>
        </p:nvSpPr>
        <p:spPr>
          <a:xfrm>
            <a:off x="548640" y="2633472"/>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Reveal leaks every loser</a:t>
            </a:r>
          </a:p>
        </p:txBody>
      </p:sp>
      <p:sp>
        <p:nvSpPr>
          <p:cNvPr id="10" name="Rounded Rectangle 9"/>
          <p:cNvSpPr/>
          <p:nvPr/>
        </p:nvSpPr>
        <p:spPr>
          <a:xfrm>
            <a:off x="4114800" y="2633472"/>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Needs threshold decryption by losers</a:t>
            </a:r>
          </a:p>
        </p:txBody>
      </p:sp>
      <p:sp>
        <p:nvSpPr>
          <p:cNvPr id="11" name="Rounded Rectangle 10"/>
          <p:cNvSpPr/>
          <p:nvPr/>
        </p:nvSpPr>
        <p:spPr>
          <a:xfrm>
            <a:off x="7680960" y="2633472"/>
            <a:ext cx="3383280" cy="594360"/>
          </a:xfrm>
          <a:prstGeom prst="roundRect">
            <a:avLst/>
          </a:prstGeom>
          <a:solidFill>
            <a:srgbClr val="0B0F2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Losing bids consumed in flight, never decrypted</a:t>
            </a:r>
          </a:p>
        </p:txBody>
      </p:sp>
      <p:sp>
        <p:nvSpPr>
          <p:cNvPr id="12" name="Rounded Rectangle 11"/>
          <p:cNvSpPr/>
          <p:nvPr/>
        </p:nvSpPr>
        <p:spPr>
          <a:xfrm>
            <a:off x="548640" y="3300984"/>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Trust a SaaS operator</a:t>
            </a:r>
          </a:p>
        </p:txBody>
      </p:sp>
      <p:sp>
        <p:nvSpPr>
          <p:cNvPr id="13" name="Rounded Rectangle 12"/>
          <p:cNvSpPr/>
          <p:nvPr/>
        </p:nvSpPr>
        <p:spPr>
          <a:xfrm>
            <a:off x="4114800" y="3300984"/>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Trust CoFHE permit / manager</a:t>
            </a:r>
          </a:p>
        </p:txBody>
      </p:sp>
      <p:sp>
        <p:nvSpPr>
          <p:cNvPr id="14" name="Rounded Rectangle 13"/>
          <p:cNvSpPr/>
          <p:nvPr/>
        </p:nvSpPr>
        <p:spPr>
          <a:xfrm>
            <a:off x="7680960" y="3300984"/>
            <a:ext cx="3383280" cy="594360"/>
          </a:xfrm>
          <a:prstGeom prst="roundRect">
            <a:avLst/>
          </a:prstGeom>
          <a:solidFill>
            <a:srgbClr val="0B0F2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Trust Daml disclosure model + participant node</a:t>
            </a:r>
          </a:p>
        </p:txBody>
      </p:sp>
      <p:sp>
        <p:nvSpPr>
          <p:cNvPr id="15" name="Rounded Rectangle 14"/>
          <p:cNvSpPr/>
          <p:nvPr/>
        </p:nvSpPr>
        <p:spPr>
          <a:xfrm>
            <a:off x="548640" y="3968496"/>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Settlement is off-ledger</a:t>
            </a:r>
          </a:p>
        </p:txBody>
      </p:sp>
      <p:sp>
        <p:nvSpPr>
          <p:cNvPr id="16" name="Rounded Rectangle 15"/>
          <p:cNvSpPr/>
          <p:nvPr/>
        </p:nvSpPr>
        <p:spPr>
          <a:xfrm>
            <a:off x="4114800" y="3968496"/>
            <a:ext cx="3383280" cy="594360"/>
          </a:xfrm>
          <a:prstGeom prst="roundRect">
            <a:avLst/>
          </a:prstGeom>
          <a:no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Reveal not wired end-to-end</a:t>
            </a:r>
          </a:p>
        </p:txBody>
      </p:sp>
      <p:sp>
        <p:nvSpPr>
          <p:cNvPr id="17" name="Rounded Rectangle 16"/>
          <p:cNvSpPr/>
          <p:nvPr/>
        </p:nvSpPr>
        <p:spPr>
          <a:xfrm>
            <a:off x="7680960" y="3968496"/>
            <a:ext cx="3383280" cy="594360"/>
          </a:xfrm>
          <a:prstGeom prst="roundRect">
            <a:avLst/>
          </a:prstGeom>
          <a:solidFill>
            <a:srgbClr val="0B0F2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1300" b="0">
                <a:solidFill>
                  <a:srgbClr val="FFFFFF"/>
                </a:solidFill>
                <a:latin typeface="Calibri"/>
              </a:defRPr>
            </a:pPr>
            <a:r>
              <a:t>Atomic reveal in one ledger transaction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457200" y="411480"/>
            <a:ext cx="10972800" cy="640080"/>
          </a:xfrm>
          <a:prstGeom prst="rect">
            <a:avLst/>
          </a:prstGeom>
          <a:noFill/>
        </p:spPr>
        <p:txBody>
          <a:bodyPr wrap="square">
            <a:spAutoFit/>
          </a:bodyPr>
          <a:lstStyle/>
          <a:p>
            <a:pPr algn="l">
              <a:defRPr sz="3200" b="1">
                <a:solidFill>
                  <a:srgbClr val="FFFFFF"/>
                </a:solidFill>
                <a:latin typeface="Calibri"/>
              </a:defRPr>
            </a:pPr>
            <a:r>
              <a:t>The model is 79 lines of Daml — no external dependencies</a:t>
            </a:r>
          </a:p>
        </p:txBody>
      </p:sp>
      <p:sp>
        <p:nvSpPr>
          <p:cNvPr id="3" name="Rounded Rectangle 2"/>
          <p:cNvSpPr/>
          <p:nvPr/>
        </p:nvSpPr>
        <p:spPr>
          <a:xfrm>
            <a:off x="457200" y="1234440"/>
            <a:ext cx="11247120" cy="338328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400" b="0">
                <a:solidFill>
                  <a:srgbClr val="FFFFFF"/>
                </a:solidFill>
                <a:latin typeface="Consolas"/>
              </a:defRPr>
            </a:pPr>
            <a:r>
              <a:t>template Bid with</a:t>
            </a:r>
          </a:p>
          <a:p>
            <a:pPr algn="l">
              <a:defRPr sz="1400" b="0">
                <a:solidFill>
                  <a:srgbClr val="FFFFFF"/>
                </a:solidFill>
                <a:latin typeface="Consolas"/>
              </a:defRPr>
            </a:pPr>
            <a:r>
              <a:t>  bidder : Party</a:t>
            </a:r>
          </a:p>
          <a:p>
            <a:pPr algn="l">
              <a:defRPr sz="1400" b="0">
                <a:solidFill>
                  <a:srgbClr val="FFFFFF"/>
                </a:solidFill>
                <a:latin typeface="Consolas"/>
              </a:defRPr>
            </a:pPr>
            <a:r>
              <a:t>  manager : Party</a:t>
            </a:r>
          </a:p>
          <a:p>
            <a:pPr algn="l">
              <a:defRPr sz="1400" b="0">
                <a:solidFill>
                  <a:srgbClr val="FFFFFF"/>
                </a:solidFill>
                <a:latin typeface="Consolas"/>
              </a:defRPr>
            </a:pPr>
            <a:r>
              <a:t>  amountUsd : Decimal</a:t>
            </a:r>
          </a:p>
          <a:p>
            <a:pPr algn="l">
              <a:defRPr sz="1400" b="0">
                <a:solidFill>
                  <a:srgbClr val="FFFFFF"/>
                </a:solidFill>
                <a:latin typeface="Consolas"/>
              </a:defRPr>
            </a:pPr>
            <a:r>
              <a:t>  ...</a:t>
            </a:r>
          </a:p>
          <a:p>
            <a:pPr algn="l">
              <a:defRPr sz="1400" b="0">
                <a:solidFill>
                  <a:srgbClr val="FFFFFF"/>
                </a:solidFill>
                <a:latin typeface="Consolas"/>
              </a:defRPr>
            </a:pPr>
            <a:r>
              <a:t>where</a:t>
            </a:r>
          </a:p>
          <a:p>
            <a:pPr algn="l">
              <a:defRPr sz="1400" b="0">
                <a:solidFill>
                  <a:srgbClr val="FFFFFF"/>
                </a:solidFill>
                <a:latin typeface="Consolas"/>
              </a:defRPr>
            </a:pPr>
            <a:r>
              <a:t>  signatory bidder</a:t>
            </a:r>
          </a:p>
          <a:p>
            <a:pPr algn="l">
              <a:defRPr sz="1400" b="0">
                <a:solidFill>
                  <a:srgbClr val="FFFFFF"/>
                </a:solidFill>
                <a:latin typeface="Consolas"/>
              </a:defRPr>
            </a:pPr>
            <a:r>
              <a:t>  observer manager          -- ONLY the auctioneer may inspect</a:t>
            </a:r>
          </a:p>
          <a:p>
            <a:pPr algn="l">
              <a:defRPr sz="1400" b="0">
                <a:solidFill>
                  <a:srgbClr val="FFFFFF"/>
                </a:solidFill>
                <a:latin typeface="Consolas"/>
              </a:defRPr>
            </a:pPr>
          </a:p>
          <a:p>
            <a:pPr algn="l">
              <a:defRPr sz="1400" b="0">
                <a:solidFill>
                  <a:srgbClr val="FFFFFF"/>
                </a:solidFill>
                <a:latin typeface="Consolas"/>
              </a:defRPr>
            </a:pPr>
            <a:r>
              <a:t>choice CloseAndReveal : ContractId AuctionResult</a:t>
            </a:r>
          </a:p>
          <a:p>
            <a:pPr algn="l">
              <a:defRPr sz="1400" b="0">
                <a:solidFill>
                  <a:srgbClr val="FFFFFF"/>
                </a:solidFill>
                <a:latin typeface="Consolas"/>
              </a:defRPr>
            </a:pPr>
            <a:r>
              <a:t>  controller manager</a:t>
            </a:r>
          </a:p>
          <a:p>
            <a:pPr algn="l">
              <a:defRPr sz="1400" b="0">
                <a:solidFill>
                  <a:srgbClr val="FFFFFF"/>
                </a:solidFill>
                <a:latin typeface="Consolas"/>
              </a:defRPr>
            </a:pPr>
            <a:r>
              <a:t>  do</a:t>
            </a:r>
          </a:p>
          <a:p>
            <a:pPr algn="l">
              <a:defRPr sz="1400" b="0">
                <a:solidFill>
                  <a:srgbClr val="FFFFFF"/>
                </a:solidFill>
                <a:latin typeface="Consolas"/>
              </a:defRPr>
            </a:pPr>
            <a:r>
              <a:t>    ... select winner ...</a:t>
            </a:r>
          </a:p>
          <a:p>
            <a:pPr algn="l">
              <a:defRPr sz="1400" b="0">
                <a:solidFill>
                  <a:srgbClr val="FFFFFF"/>
                </a:solidFill>
                <a:latin typeface="Consolas"/>
              </a:defRPr>
            </a:pPr>
            <a:r>
              <a:t>    mapA archive losingBids  -- consumed in flight</a:t>
            </a:r>
          </a:p>
          <a:p>
            <a:pPr algn="l">
              <a:defRPr sz="1400" b="0">
                <a:solidFill>
                  <a:srgbClr val="FFFFFF"/>
                </a:solidFill>
                <a:latin typeface="Consolas"/>
              </a:defRPr>
            </a:pPr>
            <a:r>
              <a:t>    create AuctionResult with ...</a:t>
            </a:r>
          </a:p>
        </p:txBody>
      </p:sp>
      <p:sp>
        <p:nvSpPr>
          <p:cNvPr id="4" name="TextBox 3"/>
          <p:cNvSpPr txBox="1"/>
          <p:nvPr/>
        </p:nvSpPr>
        <p:spPr>
          <a:xfrm>
            <a:off x="457200" y="4800600"/>
            <a:ext cx="11247120" cy="822960"/>
          </a:xfrm>
          <a:prstGeom prst="rect">
            <a:avLst/>
          </a:prstGeom>
          <a:noFill/>
        </p:spPr>
        <p:txBody>
          <a:bodyPr wrap="square">
            <a:spAutoFit/>
          </a:bodyPr>
          <a:lstStyle/>
          <a:p>
            <a:pPr algn="ctr">
              <a:defRPr sz="1600" b="0">
                <a:solidFill>
                  <a:srgbClr val="CADCFC"/>
                </a:solidFill>
                <a:latin typeface="Calibri"/>
              </a:defRPr>
            </a:pPr>
            <a:r>
              <a:t>Two lines do the privacy work: observer manager on Bid, and CloseAndReveal being a consuming choice. The rest is plumbing.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11480"/>
            <a:ext cx="10972800" cy="640080"/>
          </a:xfrm>
          <a:prstGeom prst="rect">
            <a:avLst/>
          </a:prstGeom>
          <a:noFill/>
        </p:spPr>
        <p:txBody>
          <a:bodyPr wrap="square">
            <a:spAutoFit/>
          </a:bodyPr>
          <a:lstStyle/>
          <a:p>
            <a:pPr algn="l">
              <a:defRPr sz="3200" b="1">
                <a:solidFill>
                  <a:srgbClr val="FFFFFF"/>
                </a:solidFill>
                <a:latin typeface="Calibri"/>
              </a:defRPr>
            </a:pPr>
            <a:r>
              <a:t>Live product: sealed-bid vendor selection with a party view</a:t>
            </a:r>
          </a:p>
        </p:txBody>
      </p:sp>
      <p:sp>
        <p:nvSpPr>
          <p:cNvPr id="3" name="Rounded Rectangle 2"/>
          <p:cNvSpPr/>
          <p:nvPr/>
        </p:nvSpPr>
        <p:spPr>
          <a:xfrm>
            <a:off x="548640" y="1371600"/>
            <a:ext cx="10972800" cy="384048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2000" b="0">
                <a:solidFill>
                  <a:srgbClr val="FFFFFF"/>
                </a:solidFill>
                <a:latin typeface="Calibri"/>
              </a:defRPr>
            </a:pPr>
            <a:r>
              <a:t>[UI screenshot will be inserted here]</a:t>
            </a:r>
            <a:br/>
            <a:br/>
            <a:r>
              <a:t>cognivern.vercel.app/sealed-bid</a:t>
            </a:r>
            <a:br/>
            <a:br/>
            <a:r>
              <a:t>Visitors toggle Auctioneer / Alice / Bob / Charlie and instantly see which bids each party can read on the Canton ledger.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11480"/>
            <a:ext cx="10972800" cy="640080"/>
          </a:xfrm>
          <a:prstGeom prst="rect">
            <a:avLst/>
          </a:prstGeom>
          <a:noFill/>
        </p:spPr>
        <p:txBody>
          <a:bodyPr wrap="square">
            <a:spAutoFit/>
          </a:bodyPr>
          <a:lstStyle/>
          <a:p>
            <a:pPr algn="l">
              <a:defRPr sz="3400" b="1">
                <a:solidFill>
                  <a:srgbClr val="FFFFFF"/>
                </a:solidFill>
                <a:latin typeface="Calibri"/>
              </a:defRPr>
            </a:pPr>
            <a:r>
              <a:t>Engineering rigor: tested against the real ledger</a:t>
            </a:r>
          </a:p>
        </p:txBody>
      </p:sp>
      <p:sp>
        <p:nvSpPr>
          <p:cNvPr id="3" name="Rounded Rectangle 2"/>
          <p:cNvSpPr/>
          <p:nvPr/>
        </p:nvSpPr>
        <p:spPr>
          <a:xfrm>
            <a:off x="457200" y="1371600"/>
            <a:ext cx="2651760" cy="210312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4800" b="1">
                <a:solidFill>
                  <a:srgbClr val="02C39A"/>
                </a:solidFill>
                <a:latin typeface="Calibri"/>
              </a:defRPr>
            </a:pPr>
            <a:r>
              <a:t>31</a:t>
            </a:r>
          </a:p>
          <a:p>
            <a:pPr algn="ctr">
              <a:defRPr sz="1400" b="0">
                <a:solidFill>
                  <a:srgbClr val="FFFFFF"/>
                </a:solidFill>
                <a:latin typeface="Calibri"/>
              </a:defRPr>
            </a:pPr>
            <a:r>
              <a:t>Vitest integration &amp; unit tests passing</a:t>
            </a:r>
          </a:p>
        </p:txBody>
      </p:sp>
      <p:sp>
        <p:nvSpPr>
          <p:cNvPr id="4" name="Rounded Rectangle 3"/>
          <p:cNvSpPr/>
          <p:nvPr/>
        </p:nvSpPr>
        <p:spPr>
          <a:xfrm>
            <a:off x="3429000" y="1371600"/>
            <a:ext cx="2651760" cy="210312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4800" b="1">
                <a:solidFill>
                  <a:srgbClr val="02C39A"/>
                </a:solidFill>
                <a:latin typeface="Calibri"/>
              </a:defRPr>
            </a:pPr>
            <a:r>
              <a:t>24</a:t>
            </a:r>
          </a:p>
          <a:p>
            <a:pPr algn="ctr">
              <a:defRPr sz="1400" b="0">
                <a:solidFill>
                  <a:srgbClr val="FFFFFF"/>
                </a:solidFill>
                <a:latin typeface="Calibri"/>
              </a:defRPr>
            </a:pPr>
            <a:r>
              <a:t>TestSprite CLI backend tests on the live API</a:t>
            </a:r>
          </a:p>
        </p:txBody>
      </p:sp>
      <p:sp>
        <p:nvSpPr>
          <p:cNvPr id="5" name="Rounded Rectangle 4"/>
          <p:cNvSpPr/>
          <p:nvPr/>
        </p:nvSpPr>
        <p:spPr>
          <a:xfrm>
            <a:off x="6400800" y="1371600"/>
            <a:ext cx="2651760" cy="210312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4800" b="1">
                <a:solidFill>
                  <a:srgbClr val="02C39A"/>
                </a:solidFill>
                <a:latin typeface="Calibri"/>
              </a:defRPr>
            </a:pPr>
            <a:r>
              <a:t>16</a:t>
            </a:r>
          </a:p>
          <a:p>
            <a:pPr algn="ctr">
              <a:defRPr sz="1400" b="0">
                <a:solidFill>
                  <a:srgbClr val="FFFFFF"/>
                </a:solidFill>
                <a:latin typeface="Calibri"/>
              </a:defRPr>
            </a:pPr>
            <a:r>
              <a:t>Production bugs caught and fixed this build window</a:t>
            </a:r>
          </a:p>
        </p:txBody>
      </p:sp>
      <p:sp>
        <p:nvSpPr>
          <p:cNvPr id="6" name="Rounded Rectangle 5"/>
          <p:cNvSpPr/>
          <p:nvPr/>
        </p:nvSpPr>
        <p:spPr>
          <a:xfrm>
            <a:off x="9372600" y="1371600"/>
            <a:ext cx="2651760" cy="210312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4800" b="1">
                <a:solidFill>
                  <a:srgbClr val="02C39A"/>
                </a:solidFill>
                <a:latin typeface="Calibri"/>
              </a:defRPr>
            </a:pPr>
            <a:r>
              <a:t>79</a:t>
            </a:r>
          </a:p>
          <a:p>
            <a:pPr algn="ctr">
              <a:defRPr sz="1400" b="0">
                <a:solidFill>
                  <a:srgbClr val="FFFFFF"/>
                </a:solidFill>
                <a:latin typeface="Calibri"/>
              </a:defRPr>
            </a:pPr>
            <a:r>
              <a:t>Lines of Daml across 3 templates</a:t>
            </a:r>
          </a:p>
        </p:txBody>
      </p:sp>
      <p:sp>
        <p:nvSpPr>
          <p:cNvPr id="7" name="TextBox 6"/>
          <p:cNvSpPr txBox="1"/>
          <p:nvPr/>
        </p:nvSpPr>
        <p:spPr>
          <a:xfrm>
            <a:off x="548640" y="3794760"/>
            <a:ext cx="10972800" cy="1097280"/>
          </a:xfrm>
          <a:prstGeom prst="rect">
            <a:avLst/>
          </a:prstGeom>
          <a:noFill/>
        </p:spPr>
        <p:txBody>
          <a:bodyPr wrap="square">
            <a:spAutoFit/>
          </a:bodyPr>
          <a:lstStyle/>
          <a:p>
            <a:pPr algn="ctr">
              <a:defRPr sz="1800" b="0">
                <a:solidFill>
                  <a:srgbClr val="CADCFC"/>
                </a:solidFill>
                <a:latin typeface="Calibri"/>
              </a:defRPr>
            </a:pPr>
            <a:r>
              <a:t>Privacy invariants are asserted by querying the Daml JSON Ledger API directly as each party — not by trusting our backend cache.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457200" y="411480"/>
            <a:ext cx="11247120" cy="640080"/>
          </a:xfrm>
          <a:prstGeom prst="rect">
            <a:avLst/>
          </a:prstGeom>
          <a:noFill/>
        </p:spPr>
        <p:txBody>
          <a:bodyPr wrap="square">
            <a:spAutoFit/>
          </a:bodyPr>
          <a:lstStyle/>
          <a:p>
            <a:pPr algn="l">
              <a:defRPr sz="3200" b="1">
                <a:solidFill>
                  <a:srgbClr val="FFFFFF"/>
                </a:solidFill>
                <a:latin typeface="Calibri"/>
              </a:defRPr>
            </a:pPr>
            <a:r>
              <a:t>We answer the HackCanton builder-test questions</a:t>
            </a:r>
          </a:p>
        </p:txBody>
      </p:sp>
      <p:sp>
        <p:nvSpPr>
          <p:cNvPr id="3" name="Rounded Rectangle 2"/>
          <p:cNvSpPr/>
          <p:nvPr/>
        </p:nvSpPr>
        <p:spPr>
          <a:xfrm>
            <a:off x="457200" y="1234440"/>
            <a:ext cx="5394960" cy="10515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600" b="1">
                <a:solidFill>
                  <a:srgbClr val="F96167"/>
                </a:solidFill>
                <a:latin typeface="Calibri"/>
              </a:defRPr>
            </a:pPr>
            <a:r>
              <a:t>Parties</a:t>
            </a:r>
          </a:p>
          <a:p>
            <a:pPr algn="l">
              <a:defRPr sz="1300" b="0">
                <a:solidFill>
                  <a:srgbClr val="FFFFFF"/>
                </a:solidFill>
                <a:latin typeface="Calibri"/>
              </a:defRPr>
            </a:pPr>
            <a:r>
              <a:t>Auctioneer + eligible-bidder list enforced by Daml signatory/observer.</a:t>
            </a:r>
          </a:p>
        </p:txBody>
      </p:sp>
      <p:sp>
        <p:nvSpPr>
          <p:cNvPr id="4" name="Rounded Rectangle 3"/>
          <p:cNvSpPr/>
          <p:nvPr/>
        </p:nvSpPr>
        <p:spPr>
          <a:xfrm>
            <a:off x="6217920" y="1234440"/>
            <a:ext cx="5394960" cy="10515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600" b="1">
                <a:solidFill>
                  <a:srgbClr val="F96167"/>
                </a:solidFill>
                <a:latin typeface="Calibri"/>
              </a:defRPr>
            </a:pPr>
            <a:r>
              <a:t>Visibility</a:t>
            </a:r>
          </a:p>
          <a:p>
            <a:pPr algn="l">
              <a:defRPr sz="1300" b="0">
                <a:solidFill>
                  <a:srgbClr val="FFFFFF"/>
                </a:solidFill>
                <a:latin typeface="Calibri"/>
              </a:defRPr>
            </a:pPr>
            <a:r>
              <a:t>Each Bid is visible to its bidder and the auctioneer only.</a:t>
            </a:r>
          </a:p>
        </p:txBody>
      </p:sp>
      <p:sp>
        <p:nvSpPr>
          <p:cNvPr id="5" name="Rounded Rectangle 4"/>
          <p:cNvSpPr/>
          <p:nvPr/>
        </p:nvSpPr>
        <p:spPr>
          <a:xfrm>
            <a:off x="457200" y="2423160"/>
            <a:ext cx="5394960" cy="10515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600" b="1">
                <a:solidFill>
                  <a:srgbClr val="F96167"/>
                </a:solidFill>
                <a:latin typeface="Calibri"/>
              </a:defRPr>
            </a:pPr>
            <a:r>
              <a:t>Approval</a:t>
            </a:r>
          </a:p>
          <a:p>
            <a:pPr algn="l">
              <a:defRPr sz="1300" b="0">
                <a:solidFill>
                  <a:srgbClr val="FFFFFF"/>
                </a:solidFill>
                <a:latin typeface="Calibri"/>
              </a:defRPr>
            </a:pPr>
            <a:r>
              <a:t>Only the manager’s CloseAndReveal choice can archive bids and emit the result.</a:t>
            </a:r>
          </a:p>
        </p:txBody>
      </p:sp>
      <p:sp>
        <p:nvSpPr>
          <p:cNvPr id="6" name="Rounded Rectangle 5"/>
          <p:cNvSpPr/>
          <p:nvPr/>
        </p:nvSpPr>
        <p:spPr>
          <a:xfrm>
            <a:off x="6217920" y="2423160"/>
            <a:ext cx="5394960" cy="10515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600" b="1">
                <a:solidFill>
                  <a:srgbClr val="F96167"/>
                </a:solidFill>
                <a:latin typeface="Calibri"/>
              </a:defRPr>
            </a:pPr>
            <a:r>
              <a:t>Atomic settlement</a:t>
            </a:r>
          </a:p>
          <a:p>
            <a:pPr algn="l">
              <a:defRPr sz="1300" b="0">
                <a:solidFill>
                  <a:srgbClr val="FFFFFF"/>
                </a:solidFill>
                <a:latin typeface="Calibri"/>
              </a:defRPr>
            </a:pPr>
            <a:r>
              <a:t>Winner selection + archive of every losing Bid + AuctionResult in one tx.</a:t>
            </a:r>
          </a:p>
        </p:txBody>
      </p:sp>
      <p:sp>
        <p:nvSpPr>
          <p:cNvPr id="7" name="Rounded Rectangle 6"/>
          <p:cNvSpPr/>
          <p:nvPr/>
        </p:nvSpPr>
        <p:spPr>
          <a:xfrm>
            <a:off x="457200" y="3611880"/>
            <a:ext cx="5394960" cy="10515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600" b="1">
                <a:solidFill>
                  <a:srgbClr val="F96167"/>
                </a:solidFill>
                <a:latin typeface="Calibri"/>
              </a:defRPr>
            </a:pPr>
            <a:r>
              <a:t>Auditability</a:t>
            </a:r>
          </a:p>
          <a:p>
            <a:pPr algn="l">
              <a:defRPr sz="1300" b="0">
                <a:solidFill>
                  <a:srgbClr val="FFFFFF"/>
                </a:solidFill>
                <a:latin typeface="Calibri"/>
              </a:defRPr>
            </a:pPr>
            <a:r>
              <a:t>Ledger history + hash-signed events in the CRE run ledger.</a:t>
            </a:r>
          </a:p>
        </p:txBody>
      </p:sp>
      <p:sp>
        <p:nvSpPr>
          <p:cNvPr id="8" name="Rounded Rectangle 7"/>
          <p:cNvSpPr/>
          <p:nvPr/>
        </p:nvSpPr>
        <p:spPr>
          <a:xfrm>
            <a:off x="6217920" y="3611880"/>
            <a:ext cx="5394960" cy="10515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600" b="1">
                <a:solidFill>
                  <a:srgbClr val="F96167"/>
                </a:solidFill>
                <a:latin typeface="Calibri"/>
              </a:defRPr>
            </a:pPr>
            <a:r>
              <a:t>Why weaker on public chain</a:t>
            </a:r>
          </a:p>
          <a:p>
            <a:pPr algn="l">
              <a:defRPr sz="1300" b="0">
                <a:solidFill>
                  <a:srgbClr val="FFFFFF"/>
                </a:solidFill>
                <a:latin typeface="Calibri"/>
              </a:defRPr>
            </a:pPr>
            <a:r>
              <a:t>Public chains leak amounts; FHE needs a ceremony losers won’t join.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11480"/>
            <a:ext cx="10972800" cy="640080"/>
          </a:xfrm>
          <a:prstGeom prst="rect">
            <a:avLst/>
          </a:prstGeom>
          <a:noFill/>
        </p:spPr>
        <p:txBody>
          <a:bodyPr wrap="square">
            <a:spAutoFit/>
          </a:bodyPr>
          <a:lstStyle/>
          <a:p>
            <a:pPr algn="l">
              <a:defRPr sz="3200" b="1">
                <a:solidFill>
                  <a:srgbClr val="FFFFFF"/>
                </a:solidFill>
                <a:latin typeface="Calibri"/>
              </a:defRPr>
            </a:pPr>
            <a:r>
              <a:t>Real-world applicability: one primitive, four institutional workflows</a:t>
            </a:r>
          </a:p>
        </p:txBody>
      </p:sp>
      <p:sp>
        <p:nvSpPr>
          <p:cNvPr id="3" name="Rounded Rectangle 2"/>
          <p:cNvSpPr/>
          <p:nvPr/>
        </p:nvSpPr>
        <p:spPr>
          <a:xfrm>
            <a:off x="457200" y="1234440"/>
            <a:ext cx="5394960" cy="17373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2200" b="1">
                <a:solidFill>
                  <a:srgbClr val="CADCFC"/>
                </a:solidFill>
                <a:latin typeface="Calibri"/>
              </a:defRPr>
            </a:pPr>
            <a:r>
              <a:t>Private RFPs</a:t>
            </a:r>
          </a:p>
          <a:p>
            <a:pPr algn="l">
              <a:defRPr sz="1400" b="0">
                <a:solidFill>
                  <a:srgbClr val="FFFFFF"/>
                </a:solidFill>
                <a:latin typeface="Calibri"/>
              </a:defRPr>
            </a:pPr>
            <a:r>
              <a:t>Legal retainers, security audits, capex procurement where pricing is competitively sensitive.</a:t>
            </a:r>
          </a:p>
        </p:txBody>
      </p:sp>
      <p:sp>
        <p:nvSpPr>
          <p:cNvPr id="4" name="Rounded Rectangle 3"/>
          <p:cNvSpPr/>
          <p:nvPr/>
        </p:nvSpPr>
        <p:spPr>
          <a:xfrm>
            <a:off x="6217920" y="1234440"/>
            <a:ext cx="5394960" cy="17373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2200" b="1">
                <a:solidFill>
                  <a:srgbClr val="CADCFC"/>
                </a:solidFill>
                <a:latin typeface="Calibri"/>
              </a:defRPr>
            </a:pPr>
            <a:r>
              <a:t>Confidential OTC</a:t>
            </a:r>
          </a:p>
          <a:p>
            <a:pPr algn="l">
              <a:defRPr sz="1400" b="0">
                <a:solidFill>
                  <a:srgbClr val="FFFFFF"/>
                </a:solidFill>
                <a:latin typeface="Calibri"/>
              </a:defRPr>
            </a:pPr>
            <a:r>
              <a:t>Client RFP for a block; cleared price visible, unmade quotes never surface.</a:t>
            </a:r>
          </a:p>
        </p:txBody>
      </p:sp>
      <p:sp>
        <p:nvSpPr>
          <p:cNvPr id="5" name="Rounded Rectangle 4"/>
          <p:cNvSpPr/>
          <p:nvPr/>
        </p:nvSpPr>
        <p:spPr>
          <a:xfrm>
            <a:off x="457200" y="3200400"/>
            <a:ext cx="5394960" cy="17373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2200" b="1">
                <a:solidFill>
                  <a:srgbClr val="CADCFC"/>
                </a:solidFill>
                <a:latin typeface="Calibri"/>
              </a:defRPr>
            </a:pPr>
            <a:r>
              <a:t>Credit allocation</a:t>
            </a:r>
          </a:p>
          <a:p>
            <a:pPr algn="l">
              <a:defRPr sz="1400" b="0">
                <a:solidFill>
                  <a:srgbClr val="FFFFFF"/>
                </a:solidFill>
                <a:latin typeface="Calibri"/>
              </a:defRPr>
            </a:pPr>
            <a:r>
              <a:t>Lenders bid into an allocation round; losing yield targets stay private.</a:t>
            </a:r>
          </a:p>
        </p:txBody>
      </p:sp>
      <p:sp>
        <p:nvSpPr>
          <p:cNvPr id="6" name="Rounded Rectangle 5"/>
          <p:cNvSpPr/>
          <p:nvPr/>
        </p:nvSpPr>
        <p:spPr>
          <a:xfrm>
            <a:off x="6217920" y="3200400"/>
            <a:ext cx="5394960" cy="173736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2200" b="1">
                <a:solidFill>
                  <a:srgbClr val="CADCFC"/>
                </a:solidFill>
                <a:latin typeface="Calibri"/>
              </a:defRPr>
            </a:pPr>
            <a:r>
              <a:t>B2B blind auctions</a:t>
            </a:r>
          </a:p>
          <a:p>
            <a:pPr algn="l">
              <a:defRPr sz="1400" b="0">
                <a:solidFill>
                  <a:srgbClr val="FFFFFF"/>
                </a:solidFill>
                <a:latin typeface="Calibri"/>
              </a:defRPr>
            </a:pPr>
            <a:r>
              <a:t>Drop-in replacement for procurement portals that centralize unblinding.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11480"/>
            <a:ext cx="10972800" cy="640080"/>
          </a:xfrm>
          <a:prstGeom prst="rect">
            <a:avLst/>
          </a:prstGeom>
          <a:noFill/>
        </p:spPr>
        <p:txBody>
          <a:bodyPr wrap="square">
            <a:spAutoFit/>
          </a:bodyPr>
          <a:lstStyle/>
          <a:p>
            <a:pPr algn="l">
              <a:defRPr sz="3200" b="1">
                <a:solidFill>
                  <a:srgbClr val="FFFFFF"/>
                </a:solidFill>
                <a:latin typeface="Calibri"/>
              </a:defRPr>
            </a:pPr>
            <a:r>
              <a:t>Roadmap: from informational settlement to atomic value settlement</a:t>
            </a:r>
          </a:p>
        </p:txBody>
      </p:sp>
      <p:sp>
        <p:nvSpPr>
          <p:cNvPr id="3" name="Oval 2"/>
          <p:cNvSpPr/>
          <p:nvPr/>
        </p:nvSpPr>
        <p:spPr>
          <a:xfrm>
            <a:off x="548640" y="1417320"/>
            <a:ext cx="502920" cy="50292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35608"/>
            <a:ext cx="502920" cy="457200"/>
          </a:xfrm>
          <a:prstGeom prst="rect">
            <a:avLst/>
          </a:prstGeom>
          <a:noFill/>
        </p:spPr>
        <p:txBody>
          <a:bodyPr wrap="square">
            <a:spAutoFit/>
          </a:bodyPr>
          <a:lstStyle/>
          <a:p>
            <a:pPr algn="ctr">
              <a:defRPr sz="2000" b="1">
                <a:solidFill>
                  <a:srgbClr val="FFFFFF"/>
                </a:solidFill>
                <a:latin typeface="Calibri"/>
              </a:defRPr>
            </a:pPr>
            <a:r>
              <a:t>1</a:t>
            </a:r>
          </a:p>
        </p:txBody>
      </p:sp>
      <p:sp>
        <p:nvSpPr>
          <p:cNvPr id="5" name="Rounded Rectangle 4"/>
          <p:cNvSpPr/>
          <p:nvPr/>
        </p:nvSpPr>
        <p:spPr>
          <a:xfrm>
            <a:off x="1234440" y="1325880"/>
            <a:ext cx="10424160" cy="12344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800" b="1">
                <a:solidFill>
                  <a:srgbClr val="CADCFC"/>
                </a:solidFill>
                <a:latin typeface="Calibri"/>
              </a:defRPr>
            </a:pPr>
            <a:r>
              <a:t>Today</a:t>
            </a:r>
          </a:p>
          <a:p>
            <a:pPr algn="l">
              <a:defRPr sz="1400" b="0">
                <a:solidFill>
                  <a:srgbClr val="FFFFFF"/>
                </a:solidFill>
                <a:latin typeface="Calibri"/>
              </a:defRPr>
            </a:pPr>
            <a:r>
              <a:t>CloseAndReveal archives bids and emits AuctionResult with winning amount.</a:t>
            </a:r>
          </a:p>
        </p:txBody>
      </p:sp>
      <p:sp>
        <p:nvSpPr>
          <p:cNvPr id="6" name="Oval 5"/>
          <p:cNvSpPr/>
          <p:nvPr/>
        </p:nvSpPr>
        <p:spPr>
          <a:xfrm>
            <a:off x="548640" y="2834640"/>
            <a:ext cx="502920" cy="50292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852928"/>
            <a:ext cx="502920" cy="457200"/>
          </a:xfrm>
          <a:prstGeom prst="rect">
            <a:avLst/>
          </a:prstGeom>
          <a:noFill/>
        </p:spPr>
        <p:txBody>
          <a:bodyPr wrap="square">
            <a:spAutoFit/>
          </a:bodyPr>
          <a:lstStyle/>
          <a:p>
            <a:pPr algn="ctr">
              <a:defRPr sz="2000" b="1">
                <a:solidFill>
                  <a:srgbClr val="FFFFFF"/>
                </a:solidFill>
                <a:latin typeface="Calibri"/>
              </a:defRPr>
            </a:pPr>
            <a:r>
              <a:t>2</a:t>
            </a:r>
          </a:p>
        </p:txBody>
      </p:sp>
      <p:sp>
        <p:nvSpPr>
          <p:cNvPr id="8" name="Rounded Rectangle 7"/>
          <p:cNvSpPr/>
          <p:nvPr/>
        </p:nvSpPr>
        <p:spPr>
          <a:xfrm>
            <a:off x="1234440" y="2743200"/>
            <a:ext cx="10424160" cy="12344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800" b="1">
                <a:solidFill>
                  <a:srgbClr val="CADCFC"/>
                </a:solidFill>
                <a:latin typeface="Calibri"/>
              </a:defRPr>
            </a:pPr>
            <a:r>
              <a:t>Next</a:t>
            </a:r>
          </a:p>
          <a:p>
            <a:pPr algn="l">
              <a:defRPr sz="1400" b="0">
                <a:solidFill>
                  <a:srgbClr val="FFFFFF"/>
                </a:solidFill>
                <a:latin typeface="Calibri"/>
              </a:defRPr>
            </a:pPr>
            <a:r>
              <a:t>Add a SettlementLeg to the auction and exercise the escrowed asset’s Settle choice inside the same CloseAndReveal transaction.</a:t>
            </a:r>
          </a:p>
        </p:txBody>
      </p:sp>
      <p:sp>
        <p:nvSpPr>
          <p:cNvPr id="9" name="Oval 8"/>
          <p:cNvSpPr/>
          <p:nvPr/>
        </p:nvSpPr>
        <p:spPr>
          <a:xfrm>
            <a:off x="548640" y="4251960"/>
            <a:ext cx="502920" cy="50292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270248"/>
            <a:ext cx="502920" cy="457200"/>
          </a:xfrm>
          <a:prstGeom prst="rect">
            <a:avLst/>
          </a:prstGeom>
          <a:noFill/>
        </p:spPr>
        <p:txBody>
          <a:bodyPr wrap="square">
            <a:spAutoFit/>
          </a:bodyPr>
          <a:lstStyle/>
          <a:p>
            <a:pPr algn="ctr">
              <a:defRPr sz="2000" b="1">
                <a:solidFill>
                  <a:srgbClr val="FFFFFF"/>
                </a:solidFill>
                <a:latin typeface="Calibri"/>
              </a:defRPr>
            </a:pPr>
            <a:r>
              <a:t>3</a:t>
            </a:r>
          </a:p>
        </p:txBody>
      </p:sp>
      <p:sp>
        <p:nvSpPr>
          <p:cNvPr id="11" name="Rounded Rectangle 10"/>
          <p:cNvSpPr/>
          <p:nvPr/>
        </p:nvSpPr>
        <p:spPr>
          <a:xfrm>
            <a:off x="1234440" y="4160520"/>
            <a:ext cx="10424160" cy="1234440"/>
          </a:xfrm>
          <a:prstGeom prst="roundRect">
            <a:avLst/>
          </a:prstGeom>
          <a:solidFill>
            <a:srgbClr val="36454F"/>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defRPr sz="1800" b="1">
                <a:solidFill>
                  <a:srgbClr val="CADCFC"/>
                </a:solidFill>
                <a:latin typeface="Calibri"/>
              </a:defRPr>
            </a:pPr>
            <a:r>
              <a:t>Bounty lane</a:t>
            </a:r>
          </a:p>
          <a:p>
            <a:pPr algn="l">
              <a:defRPr sz="1400" b="0">
                <a:solidFill>
                  <a:srgbClr val="FFFFFF"/>
                </a:solidFill>
                <a:latin typeface="Calibri"/>
              </a:defRPr>
            </a:pPr>
            <a:r>
              <a:t>CBTC (BitSafe) private OTC escrow or cETH (OnRails) private collateral — 50,000 CC bounty.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411480"/>
            <a:ext cx="10972800" cy="640080"/>
          </a:xfrm>
          <a:prstGeom prst="rect">
            <a:avLst/>
          </a:prstGeom>
          <a:noFill/>
        </p:spPr>
        <p:txBody>
          <a:bodyPr wrap="square">
            <a:spAutoFit/>
          </a:bodyPr>
          <a:lstStyle/>
          <a:p>
            <a:pPr algn="l">
              <a:defRPr sz="3400" b="1">
                <a:solidFill>
                  <a:srgbClr val="FFFFFF"/>
                </a:solidFill>
                <a:latin typeface="Calibri"/>
              </a:defRPr>
            </a:pPr>
            <a:r>
              <a:t>Why us: a production platform, not a weekend mock-up</a:t>
            </a:r>
          </a:p>
        </p:txBody>
      </p:sp>
      <p:sp>
        <p:nvSpPr>
          <p:cNvPr id="3" name="Oval 2"/>
          <p:cNvSpPr/>
          <p:nvPr/>
        </p:nvSpPr>
        <p:spPr>
          <a:xfrm>
            <a:off x="640080" y="1508760"/>
            <a:ext cx="164592" cy="164592"/>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371600"/>
            <a:ext cx="10515600" cy="731520"/>
          </a:xfrm>
          <a:prstGeom prst="rect">
            <a:avLst/>
          </a:prstGeom>
          <a:noFill/>
        </p:spPr>
        <p:txBody>
          <a:bodyPr wrap="square">
            <a:spAutoFit/>
          </a:bodyPr>
          <a:lstStyle/>
          <a:p>
            <a:pPr algn="l">
              <a:defRPr sz="1800" b="0">
                <a:solidFill>
                  <a:srgbClr val="FFFFFF"/>
                </a:solidFill>
                <a:latin typeface="Calibri"/>
              </a:defRPr>
            </a:pPr>
            <a:r>
              <a:t>Built on top of an already-deployed, tested governance API — real production logging, auth, and audit rails.</a:t>
            </a:r>
          </a:p>
        </p:txBody>
      </p:sp>
      <p:sp>
        <p:nvSpPr>
          <p:cNvPr id="5" name="Oval 4"/>
          <p:cNvSpPr/>
          <p:nvPr/>
        </p:nvSpPr>
        <p:spPr>
          <a:xfrm>
            <a:off x="640080" y="2377440"/>
            <a:ext cx="164592" cy="164592"/>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40280"/>
            <a:ext cx="10515600" cy="731520"/>
          </a:xfrm>
          <a:prstGeom prst="rect">
            <a:avLst/>
          </a:prstGeom>
          <a:noFill/>
        </p:spPr>
        <p:txBody>
          <a:bodyPr wrap="square">
            <a:spAutoFit/>
          </a:bodyPr>
          <a:lstStyle/>
          <a:p>
            <a:pPr algn="l">
              <a:defRPr sz="1800" b="0">
                <a:solidFill>
                  <a:srgbClr val="FFFFFF"/>
                </a:solidFill>
                <a:latin typeface="Calibri"/>
              </a:defRPr>
            </a:pPr>
            <a:r>
              <a:t>Daml model compiles clean with SDK 2.10.4; backend is participant-agnostic.</a:t>
            </a:r>
          </a:p>
        </p:txBody>
      </p:sp>
      <p:sp>
        <p:nvSpPr>
          <p:cNvPr id="7" name="Oval 6"/>
          <p:cNvSpPr/>
          <p:nvPr/>
        </p:nvSpPr>
        <p:spPr>
          <a:xfrm>
            <a:off x="640080" y="3246120"/>
            <a:ext cx="164592" cy="164592"/>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108960"/>
            <a:ext cx="10515600" cy="731520"/>
          </a:xfrm>
          <a:prstGeom prst="rect">
            <a:avLst/>
          </a:prstGeom>
          <a:noFill/>
        </p:spPr>
        <p:txBody>
          <a:bodyPr wrap="square">
            <a:spAutoFit/>
          </a:bodyPr>
          <a:lstStyle/>
          <a:p>
            <a:pPr algn="l">
              <a:defRPr sz="1800" b="0">
                <a:solidFill>
                  <a:srgbClr val="FFFFFF"/>
                </a:solidFill>
                <a:latin typeface="Calibri"/>
              </a:defRPr>
            </a:pPr>
            <a:r>
              <a:t>End-to-end Canton flow works today: create → submit → close → atomic reveal, with privacy verified by direct ledger queries.</a:t>
            </a:r>
          </a:p>
        </p:txBody>
      </p:sp>
      <p:sp>
        <p:nvSpPr>
          <p:cNvPr id="9" name="Oval 8"/>
          <p:cNvSpPr/>
          <p:nvPr/>
        </p:nvSpPr>
        <p:spPr>
          <a:xfrm>
            <a:off x="640080" y="4114800"/>
            <a:ext cx="164592" cy="164592"/>
          </a:xfrm>
          <a:prstGeom prst="ellipse">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977640"/>
            <a:ext cx="10515600" cy="731520"/>
          </a:xfrm>
          <a:prstGeom prst="rect">
            <a:avLst/>
          </a:prstGeom>
          <a:noFill/>
        </p:spPr>
        <p:txBody>
          <a:bodyPr wrap="square">
            <a:spAutoFit/>
          </a:bodyPr>
          <a:lstStyle/>
          <a:p>
            <a:pPr algn="l">
              <a:defRPr sz="1800" b="0">
                <a:solidFill>
                  <a:srgbClr val="FFFFFF"/>
                </a:solidFill>
                <a:latin typeface="Calibri"/>
              </a:defRPr>
            </a:pPr>
            <a:r>
              <a:t>Iteration log (LOOP.md) shows 16 bugs fixed, 31 tests passing, and a clear Option B FHE trust-model evolution.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2F"/>
        </a:solidFill>
        <a:effectLst/>
      </p:bgPr>
    </p:bg>
    <p:spTree>
      <p:nvGrpSpPr>
        <p:cNvPr id="1" name=""/>
        <p:cNvGrpSpPr/>
        <p:nvPr/>
      </p:nvGrpSpPr>
      <p:grpSpPr/>
      <p:sp>
        <p:nvSpPr>
          <p:cNvPr id="2" name="TextBox 1"/>
          <p:cNvSpPr txBox="1"/>
          <p:nvPr/>
        </p:nvSpPr>
        <p:spPr>
          <a:xfrm>
            <a:off x="548640" y="1645920"/>
            <a:ext cx="10972800" cy="1097280"/>
          </a:xfrm>
          <a:prstGeom prst="rect">
            <a:avLst/>
          </a:prstGeom>
          <a:noFill/>
        </p:spPr>
        <p:txBody>
          <a:bodyPr wrap="square">
            <a:spAutoFit/>
          </a:bodyPr>
          <a:lstStyle/>
          <a:p>
            <a:pPr algn="ctr">
              <a:defRPr sz="5800" b="1">
                <a:solidFill>
                  <a:srgbClr val="FFFFFF"/>
                </a:solidFill>
                <a:latin typeface="Calibri"/>
              </a:defRPr>
            </a:pPr>
            <a:r>
              <a:t>Prove privacy on-ledger</a:t>
            </a:r>
          </a:p>
        </p:txBody>
      </p:sp>
      <p:sp>
        <p:nvSpPr>
          <p:cNvPr id="3" name="TextBox 2"/>
          <p:cNvSpPr txBox="1"/>
          <p:nvPr/>
        </p:nvSpPr>
        <p:spPr>
          <a:xfrm>
            <a:off x="548640" y="2926080"/>
            <a:ext cx="10972800" cy="822960"/>
          </a:xfrm>
          <a:prstGeom prst="rect">
            <a:avLst/>
          </a:prstGeom>
          <a:noFill/>
        </p:spPr>
        <p:txBody>
          <a:bodyPr wrap="square">
            <a:spAutoFit/>
          </a:bodyPr>
          <a:lstStyle/>
          <a:p>
            <a:pPr algn="ctr">
              <a:defRPr sz="2200" b="0">
                <a:solidFill>
                  <a:srgbClr val="CADCFC"/>
                </a:solidFill>
                <a:latin typeface="Calibri"/>
              </a:defRPr>
            </a:pPr>
            <a:r>
              <a:t>Cognivern brings institutional RFP / OTC sealed-bid workflows to Canton Network — with sub-transaction privacy and atomic reveal that actually works.</a:t>
            </a:r>
          </a:p>
        </p:txBody>
      </p:sp>
      <p:sp>
        <p:nvSpPr>
          <p:cNvPr id="4" name="TextBox 3"/>
          <p:cNvSpPr txBox="1"/>
          <p:nvPr/>
        </p:nvSpPr>
        <p:spPr>
          <a:xfrm>
            <a:off x="548640" y="4114800"/>
            <a:ext cx="10972800" cy="548640"/>
          </a:xfrm>
          <a:prstGeom prst="rect">
            <a:avLst/>
          </a:prstGeom>
          <a:noFill/>
        </p:spPr>
        <p:txBody>
          <a:bodyPr wrap="square">
            <a:spAutoFit/>
          </a:bodyPr>
          <a:lstStyle/>
          <a:p>
            <a:pPr algn="ctr">
              <a:defRPr sz="2400" b="1">
                <a:solidFill>
                  <a:srgbClr val="02C39A"/>
                </a:solidFill>
                <a:latin typeface="Calibri"/>
              </a:defRPr>
            </a:pPr>
            <a:r>
              <a:t>Live demo: cognivern.vercel.app/sealed-bid</a:t>
            </a:r>
          </a:p>
        </p:txBody>
      </p:sp>
      <p:sp>
        <p:nvSpPr>
          <p:cNvPr id="5" name="TextBox 4"/>
          <p:cNvSpPr txBox="1"/>
          <p:nvPr/>
        </p:nvSpPr>
        <p:spPr>
          <a:xfrm>
            <a:off x="548640" y="4892040"/>
            <a:ext cx="10972800" cy="548640"/>
          </a:xfrm>
          <a:prstGeom prst="rect">
            <a:avLst/>
          </a:prstGeom>
          <a:noFill/>
        </p:spPr>
        <p:txBody>
          <a:bodyPr wrap="square">
            <a:spAutoFit/>
          </a:bodyPr>
          <a:lstStyle/>
          <a:p>
            <a:pPr algn="ctr">
              <a:defRPr sz="1800" b="0">
                <a:solidFill>
                  <a:srgbClr val="FFFFFF"/>
                </a:solidFill>
                <a:latin typeface="Calibri"/>
              </a:defRPr>
            </a:pPr>
            <a:r>
              <a:t>github.com/thisyearnofear/cognivern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